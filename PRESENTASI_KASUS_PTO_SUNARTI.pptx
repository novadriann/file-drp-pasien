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PRESENTASI AKHIR PKPA</a:t>
            </a:r>
          </a:p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RSPAU dr. S. Hardjolukito Yogyakarta</a:t>
            </a:r>
            <a:br/>
            <a:r>
              <a:t>Universitas Ahmad Dahlan</a:t>
            </a:r>
          </a:p>
          <a:p>
            <a:pPr algn="ctr">
              <a:defRPr sz="1600" b="1">
                <a:solidFill>
                  <a:srgbClr val="F39200"/>
                </a:solidFill>
                <a:latin typeface="Segoe UI"/>
              </a:defRPr>
            </a:pPr>
            <a:r>
              <a:t>STUDI KASUS PEMANTAUAN TERAPI OBAT (PTO) RAWAT INAP</a:t>
            </a:r>
            <a:br/>
            <a:r>
              <a:t>PASIEN GERIATRI NY. SUNARTI (RM 00109480)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6217920"/>
            <a:ext cx="2286000" cy="45720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  <a:latin typeface="Segoe UI"/>
              </a:defRPr>
            </a:pPr>
            <a:r>
              <a:t>#weareuad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KASUS PTO RAWAT INAP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164592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Nama Pasien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Ny. SUNARTI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Ruangan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MERAK (Kamar 314 / Bed 14A)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No. RM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00109480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DPJP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dr. Raden Triyono Edhi Sulistiyono Sp.PD., FINASIM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BB / TB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 kg / 156 cm (IMT: 24,65 kg/m² - 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Dokter Raber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Usia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62 th 10 bln (Geriatri / Lansia)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Tgl Masuk / Keluar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14-10-2026 (20:45) s/d 18-10-2026 (14:00 BLPL)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Alergi Obat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AMOXISILIN &amp; AMPISILIN (Gatal kemerahan)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Diagnosa Utama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Vomitus Profuse ec dalam pelacakan (suspek GEA/food intoxication)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Diagnosa Sekunder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DM dengan Hiperglikemia</a:t>
                      </a:r>
                    </a:p>
                    <a:p>
                      <a:r>
                        <a:t>- Riw. Hipertensi</a:t>
                      </a:r>
                    </a:p>
                    <a:p>
                      <a:r>
                        <a:t>- Hiponatremia &amp; Hipokloremia ringan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Diagnosa Tambahan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Anorexia Geriatri</a:t>
                      </a:r>
                    </a:p>
                    <a:p>
                      <a:r>
                        <a:t>- ISPA (Infeksi Saluran Pernapasan Akut)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Riwayat Penyakit Dahulu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Diabetes Melitus Tipe 2</a:t>
                      </a:r>
                    </a:p>
                    <a:p>
                      <a:r>
                        <a:t>- Hipertensi</a:t>
                      </a:r>
                    </a:p>
                    <a:p>
                      <a:r>
                        <a:t>- Riwayat Vertigo</a:t>
                      </a:r>
                    </a:p>
                    <a:p>
                      <a:r>
                        <a:t>- Post OP Phaco+IOL OS (Katarak Komplikata)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Riwayat Pengobatan Rutin (RPO)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Amlodipin 1x10 mg sehari</a:t>
                      </a:r>
                    </a:p>
                    <a:p>
                      <a:r>
                        <a:t>- Clopidogrel 1x75 mg sehari</a:t>
                      </a:r>
                    </a:p>
                    <a:p>
                      <a:r>
                        <a:t>- Glimepirid 1x3 mg sehari</a:t>
                      </a:r>
                    </a:p>
                    <a:p>
                      <a:r>
                        <a:t>- Metformin 1x500 mg sehari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Keluhan Utama Masuk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Muntah berulang &gt;10x/hari sejak 3 hari SMRS usai konsumsi susu jahe pinggir jalan, lemas hebat, mual, batuk berdahak putih.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Obat UGD (11/10)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Becom C 1x1 tab</a:t>
                      </a:r>
                    </a:p>
                    <a:p>
                      <a:r>
                        <a:t>- Betahistin 3x6 mg tab</a:t>
                      </a:r>
                    </a:p>
                    <a:p>
                      <a:r>
                        <a:t>- Ibuprofen 2x400 mg tab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 KELUHAN SUBJEKTIF PASIEN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241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645920"/>
                <a:gridCol w="1645920"/>
                <a:gridCol w="1645920"/>
                <a:gridCol w="164592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Keluhan Pasien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IGD (14/10)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Ranap H1 (15/10)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Ranap H2 (16/10)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Ranap H3 (17/10)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Ranap H4 (18/10)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Pusing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+++ (Hebat)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++ (Sedang)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 (Ringan)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Muntah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 (&gt;10x)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(Teratasi)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(Teratasi)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Lemas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 (Membaik)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Batuk Berdahak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 (Putih)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(Mereda)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Berkeringat / Panas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 (Gobyos)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 TANDA-TANDA VITAL (TTV) PASIEN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280160"/>
                <a:gridCol w="1188720"/>
                <a:gridCol w="1188720"/>
                <a:gridCol w="1188720"/>
                <a:gridCol w="1188720"/>
                <a:gridCol w="118872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Pemeriksaan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Satuan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IGD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18/10/26 (Pulang)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Sistole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mmHg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&lt;140 (PERHI)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101 (90 kln)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144 (Pagi) /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Diastole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mmHg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&lt;90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80 (60 kln)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81 (Pagi) / 82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x/min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60-100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105 (Takikardi)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94 / 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Suhu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°C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&lt;37,5°C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36,0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36,5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36,4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36,2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36,0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37,5 / 36,0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RR (Nafas)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x/min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12–20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 (Takipnea)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SpO2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≥95%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Skor Nyeri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GRAFIK TTV PASIEN SELAMA RAWAT INAP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ttv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 HASIL LABORATORIUM PASIEN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463040"/>
                <a:gridCol w="1188720"/>
                <a:gridCol w="1188720"/>
                <a:gridCol w="1188720"/>
                <a:gridCol w="1188720"/>
                <a:gridCol w="20116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Pemeriksaan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Satuan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Nilai Normal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Interpretasi &amp; Masalah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Natrium (Na)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mmol/L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135 - 147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127,36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Hiponatremia Ringan ec muntah masif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Klorida (Cl)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mmol/L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95 - 105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87,75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Hipokloremia ec kehilangan asam HCl lambung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Kalium (K)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mmol/L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3,5 - 5,5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4,23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&amp;bull; Tidak ada gangguan kalium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Hemoglobin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g/dL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11,7 - 15,5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11,6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Anemia Ringan normositik normokrom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Hematokrit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35 - 47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33,9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Sedikit rendah &amp;bull; Pantau serial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Ureum Darah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mg/dL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21 - 43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Azotemia Prerenal ec dehidrasi &amp; Ibuprofen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Kreatinin Serum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mg/dL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0,6 - 1,1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CrCl: 30,69 mL/mnt (Gangguan Ginjal G3b)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GDS / GDP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mg/dL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GDS &lt;200</a:t>
                      </a:r>
                    </a:p>
                    <a:p>
                      <a:r>
                        <a:t>GDP 70-115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GDS: 310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GDS: 208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GDP: 235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GDP: 298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GDP melonjak tinggi &amp;bull; Ketiadaan Basal!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GRAFIK TREN GLUKOSA DARAH RAWAT INAP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glucos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217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  <a:latin typeface="Segoe UI"/>
              </a:defRPr>
            </a:pPr>
            <a:r>
              <a:t>EVALUASI KENDALI GLIKEMIK (PERKENI 2021):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1. Target Kendali Glukosa Rawat Inap (Hal. 100):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Target glukosa darah pasien non-kritis menurut Pedoman PERKENI 2021 dan ADA adalah 140 – 180 mg/dL.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2. Fakta Klinis Pasien Ny. Sunarti: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GDP puasa pagi pasien terus melonjak (235 -&gt; 236 -&gt; 298 mg/dL) meskipun dosis Novorapid dinaikkan (3x8 -&gt; 3x10 -&gt; 3x12 UI).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3. Analisis Farmakologis: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Novorapid (insulin prandial) hanya bertahan 3–5 jam. Tanpa insulin basal, organ hati memproduksi glukosa tanpa hambatan semalaman sehingga GDP pagi melonjak tinggi.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4. Rekomendasi Solusi: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Terapkan regimen Basal-Bolus fisiologis: Tambahkan Insulin Glargine 8–10 Unit malam hari dan turunkan dosis Novorapid.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DATA PENGOBATAN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6217920"/>
            <a:ext cx="2286000" cy="45720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  <a:latin typeface="Segoe UI"/>
              </a:defRPr>
            </a:pPr>
            <a:r>
              <a:t>#weareuad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DATA PENGOBATAN PASIEN SELAMA RAWAT INAP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2011680"/>
                <a:gridCol w="822960"/>
                <a:gridCol w="1005840"/>
                <a:gridCol w="1005840"/>
                <a:gridCol w="1005840"/>
                <a:gridCol w="1371600"/>
                <a:gridCol w="15544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Nama Obat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Rute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Regimen Dosis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IGD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17/10/26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18/10/26 (Pulang)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Ondansetron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mg injeksi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Omeprazole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2x sehari 1 ampul (40 mg)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(Ganti oral 2x20 mg)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Antasida Sirup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10 mL 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(3x1 C 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Metoklopramid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1 ampul (10 mg)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(Gavistal 3x10 mg)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Rebamipide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1 tablet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(3x1 tab 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Novorapid Flexpen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8 UI 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(Pagi-Siang)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Novorapid Flexpen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10 UI 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(Malam)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(Pagi)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Novorapid Flexpen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3x sehari 12 UI ac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(Siang-Mlm)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(3x12 UI ac)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Domperidone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2x sehari 1 tablet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✔ (2x10 mg tab 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ANALISIS KASUS &amp; BUKTI GUIDELINE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6217920"/>
            <a:ext cx="2286000" cy="45720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  <a:latin typeface="Segoe UI"/>
              </a:defRPr>
            </a:pPr>
            <a:r>
              <a:t>#weareuad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TATA LAKSANA VOMITUS PROFUSE &amp; DEHIDRASI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vomitus_rehydration_guid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217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09728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3B70"/>
                </a:solidFill>
                <a:latin typeface="Segoe UI"/>
              </a:defRPr>
            </a:pPr>
            <a:r>
              <a:t>ANALISIS TATA LAKSANA DEHIDRASI: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1. Resusitasi Cairan Kristaloid: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Berdasarkan pedoman PAPDI dan WHO, penanganan dehidrasi berat dan hiponatremia hipovolemik (Na 127,36, Cl 87,75) diawali dengan kristaloid isotonik NaCl 0.9% 500 mL loading dilanjutkan 20 tpm.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2. Hasil Evaluasi Pasien: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Tekanan darah pasien berhasil pulih dari syok (90/60 mmHg di klinik) menjadi normovolemik (149/70 mmHg pada H1). Nadi membaik dari 105 ke 92 x/m.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3. Drug Related Problem (DRP 10):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Ketiadaan Pemantauan Elektrolit Ulang. Meskipun infus NaCl 0.9% diberikan selama 4 hari, kadar elektrolit tidak pernah diperiksa ulang sebelum pasien dipulangkan.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TATA LAKSANA DIABETES MELITUS RAWAT INAP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perkeni_inpatient_guid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217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09728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3B70"/>
                </a:solidFill>
                <a:latin typeface="Segoe UI"/>
              </a:defRPr>
            </a:pPr>
            <a:r>
              <a:t>ANALISIS PANDUAN PERKENI 2021 (HAL. 100):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1. Target Kendali Glukosa: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Pedoman PERKENI 2021 menetapkan target glukosa darah rawat inap non-kritis berada pada kisaran 140 – 180 mg/dL.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2. Larangan Sliding Scale / Bolus Saja: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PERKENI secara tegas menyatakan pemberian insulin secara sliding scale atau bolus saja sangat tidak disarankan karena memicu variabilitas glukosa dan hiperglikemia puasa.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3. Rekomendasi Basal-Bolus: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Pola fisiologis berupa insulin basal (Glargine 8–10 Unit malam) ditambah insulin prandial sebelum makan sangat direkomendasikan.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4. Drug Related Problem (DRP 3):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GDP pasien melonjak hingga 298 mg/dL karena dokter hanya menaikkan Novorapid (3x12 UI) tanpa memberi basal.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PEMILIHAN ANTIDIABETES PADA GANGGUAN GINJAL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kdigo_perkeni_diabetes_ck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217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09728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3B70"/>
                </a:solidFill>
                <a:latin typeface="Segoe UI"/>
              </a:defRPr>
            </a:pPr>
            <a:r>
              <a:t>ANALISIS OBAT ORAL PADA CRCL 30,69 ML/MNT: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1. Metformin (Biguanid):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Tepat dihentikan saat masuk RS. Pada eGFR ~31 mL/min/1.73m² dan dehidrasi, Metformin berisiko tinggi memicu asidosis laktat (MALA).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2. Glikuidon vs Glimepirid (PERKENI Hal. 38 &amp; 111):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Glimepirid memiliki metabolit aktif yang diekskresi via ginjal (risiko hipoglikemia berkepanjangan). Keputusan beralih ke Glikuidon sangat tepat karena &gt;95% dieliminasi via empedu/feses.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3. Peringatan Resep Pulang (DRP 8):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Menggabungkan Glikuidon 30 mg dengan Novorapid 3x12 UI (36 UI/hari) pada lansia berisiko hipoglikemia berat yang fatal di rumah.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PENYESUAIAN DOSIS METOKLOPRAMID PADA GINJAL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pic>
        <p:nvPicPr>
          <p:cNvPr id="6" name="Picture 5" descr="lexicomp_metoclopramide_re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217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09728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3B70"/>
                </a:solidFill>
                <a:latin typeface="Segoe UI"/>
              </a:defRPr>
            </a:pPr>
            <a:r>
              <a:t>ANALISIS DOSIS GINJAL &amp; KEAMANAN LANSIA: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1. Rekomendasi FDA &amp; Lexicomp: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Pada pasien dengan CrCl 10–40 mL/menit (Ny. Sunarti: 30,69 mL/menit), dosis metoklopramid wajib diturunkan 50% dari dosis harian normal (maks 15 mg/hari).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2. Drug Related Problem (DRP 1):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Pasien menerima dosis penuh Metoklopramid IV 3 x 10 mg (30 mg/hari). Terjadi penurunan klirens ginjal dan peningkatan waktu paruh hingga 3 kali lipat.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3. Risiko Tardive Dyskinesia &amp; EPS: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FDA Black Box Warning memperingatkan risiko diskinesia tardif dan efek samping ekstrapiramidal terutama pada wanita lansia dengan gangguan ginjal.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4. Rekomendasi Apoteker: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Hentikan metoklopramid karena keluhan muntah pasien sudah sembuh total sejak hari ke-2.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SKRINING KEAMANAN PASIEN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383280"/>
                <a:gridCol w="3291840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Nama Obat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Gangguan Ginjal (CrCl 30,69 mL/mnt)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AGS BEERS CRITERIA 2023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START / STOPP CRITERIA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Metoklopramid (Gavistal)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Turunkan dosis 50% (CrCl 10-40 mL/mnt; max 15 mg/d) atau hentikan.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HINDARI (AVOID) penggunaan rutin pada lansia. Risiko tinggi Tardive Dyskinesia &amp; EPS.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STOPP: Hentikan penggunaan jika indikasi muntah akut sudah teratasi.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Domperidone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Tidak perlu penyesuaian ginjal berat (eliminasi hepar), namun waspadai akumulasi.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Gunakan dengan sangat hati-hati pada lansia. Risiko perpanjangan interval QT &amp; aritmia.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STOPP: Hentikan jika dikombinasi dengan sesama antagonis dopamin D2.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Omeprazole (PPI)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Tidak memerlukan penyesuaian dosis ginjal.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HINDARI &gt; 8 minggu tanpa indikasi jelas. Risiko C. difficile, fraktur, &amp; defisiensi B12.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Sesuai dosis dewasa jangka pendek (5-7 hari) pasca iritasi mukosa lambung.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Novorapid Flexpen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Penurunan fungsi ginjal memanjangkan waktu paruh insulin. Pantau ketat hipoglikemia.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Hindari sliding-scale/bolus tunggal tanpa basal. Waspadai hypoglycemia unawareness.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START: Kombinasikan dengan insulin basal dosis terkontrol untuk target GDP.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Glikuidon 30 mg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Aman pada gangguan ginjal (eliminasi &gt;95% bilier/feses). Tidak perlu reduksi dosis.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Sulfonilurea pilihan pada lansia dengan nefropati. Waspadai risiko hipoglikemia.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Sesuai dosis pemeliharaan 1-2x/hari sebelum makan. Hindari digabung insulin bolus tinggi.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POTENSI INTERAKSI OBAT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4114800"/>
                <a:gridCol w="2560320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Kategori Lexicomp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Drug Related Problem (Pasangan Obat)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Klinis Literatur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Monitoring Parameter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X / D (Major)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Metoklopramid (Gavistal) + Domperidone = Duplikasi antagonis dopamin D2. Efek aditif perpanjangan interval QTc dan sindrom ekstrapiramidal.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Literatur: HINDARI KOMBINASI. Hentikan Gavistal dan Domperidone saat pulang karena muntah sudah teratasi.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EKG (interval QTc), gejala tremor, distonia, akatisia.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 (Moderate)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Glikuidon + Novorapid 3x12 UI = Risiko tinggi hipoglikemia berat karena stimulasi sel beta ditambah insulin prandial dosis tinggi (36 UI/hari).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Literatur: Sederhanakan regimen. Bila makan baik cukup OAD, atau gunakan basal malam dosis kecil daripada bolus masif.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Glukosa darah mandiri (SMBG), gejala keringat dingin, gemetar.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 (Moderate)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Ibuprofen + Riwayat Hipertensi &amp; Dehidrasi = NSAID menghambat sintesis prostaglandin renal, memicu vasokonstriksi arteriol aferen dan AKI.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Literatur: Hindari NSAID pada dehidrasi/gangguan ginjal. Gunakan Parasetamol 500 mg prn.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Ureum, kreatinin serum, tekanan darah harian.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 (Minor)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Antasida Sirup + Obat Oral Lain = Antasida (Mg/Al hidroksida) dapat mengikat obat lain dan menurunkan bioavailabilitas.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Literatur: Beri jeda minimal 2 jam jika antasida digunakan, atau hentikan karena keluhan mual/muntah sudah teratasi.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Efektivitas terapi obat oral kronis.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POTENSI EFEK SAMPING OBAT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9200"/>
                </a:solidFill>
                <a:latin typeface="Segoe UI"/>
              </a:defRPr>
            </a:pPr>
            <a:r>
              <a:t>DATA FARMAKOVIGILANS &amp; BASIS DATA KEAMANAN OBAT:</a:t>
            </a:r>
          </a:p>
          <a:p>
            <a:pPr>
              <a:defRPr sz="1100" b="1">
                <a:solidFill>
                  <a:srgbClr val="0B3B70"/>
                </a:solidFill>
                <a:latin typeface="Segoe UI"/>
              </a:defRPr>
            </a:pPr>
            <a:r>
              <a:t>1. Metoclopramide 10 mg (Gavistal):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VigiAccess (WHO Database): Gangguan sistem saraf 32% (ekstrapiramidal, distonia, diskinesia tardif, tremor), Gangguan kejiwaan 18% (agitasi, ansietas, kantuk), Gangguan vaskular 10% (hipotensi, bradikardi).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MEDSCAPE Reference: Kantuk (10-70%), Reaksi distonia akut (0.2-25% meningkat pada lansia &amp; gangguan ginjal), Parkinsonisme sekunder, Tardive Dyskinesia (Black Box Warning).</a:t>
            </a:r>
            <a:br/>
          </a:p>
          <a:p>
            <a:pPr>
              <a:defRPr sz="1100" b="1">
                <a:solidFill>
                  <a:srgbClr val="0B3B70"/>
                </a:solidFill>
                <a:latin typeface="Segoe UI"/>
              </a:defRPr>
            </a:pPr>
            <a:r>
              <a:t>2. Domperidone 10 mg: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VigiAccess (WHO Database): Gangguan jantung 24% (pemanjangan interval QT, aritmia ventrikel, palpitasi), Gangguan endokrin 15% (hiperprolaktinemia, galaktorea), Gangguan saluran cerna 12% (kram perut, diare).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MEDSCAPE Reference: Mulut kering (2%), Sakit kepala (1%), Aritmia ventrikel fatal &amp; pemanjangan QT (peringatan ketat EMA PRAC terutama usia &gt;60 tahun).</a:t>
            </a:r>
            <a:br/>
          </a:p>
          <a:p>
            <a:pPr>
              <a:defRPr sz="1100" b="1">
                <a:solidFill>
                  <a:srgbClr val="0B3B70"/>
                </a:solidFill>
                <a:latin typeface="Segoe UI"/>
              </a:defRPr>
            </a:pPr>
            <a:r>
              <a:t>3. Omeprazole 40 mg IV / 20 mg PO: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VigiAccess (WHO Database): Gangguan saluran cerna 22% (nyeri perut, diare, mual), Gangguan ginjal 12% (nefritis interstisial akut, gagal ginjal), Gangguan metabolik 9% (hipomagnesemia).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MEDSCAPE Reference: Sakit kepala (7%), Nyeri perut (5%), Diare (4%), Mual (3%), Infeksi C. difficile pada pemakaian jangka panjang.</a:t>
            </a:r>
            <a:br/>
          </a:p>
          <a:p>
            <a:pPr>
              <a:defRPr sz="1100" b="1">
                <a:solidFill>
                  <a:srgbClr val="0B3B70"/>
                </a:solidFill>
                <a:latin typeface="Segoe UI"/>
              </a:defRPr>
            </a:pPr>
            <a:r>
              <a:t>4. Novorapid (Insulin Aspart) &amp; Glikuidon 30 mg: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VigiAccess (WHO Database): Gangguan metabolisme dan nutrisi 48% (hipoglikemia berat, keringat dingin, kehilangan kesadaran), Reaksi tempat suntikan 14% (lipodistrofi), Kenaikan berat badan 12%.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MEDSCAPE Reference: Hipoglikemia (&lt;70 mg/dL: tremor, takikardia, diaphoresis, kebingungan), Reaksi anafilaksis jarang, Hipokalemia transien.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RETRIKSI FORNAS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3017520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Nama Obat Pasien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Ketentuan Restriksi FORNAS (Formularium Nasional)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Maksimal Peresepan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Omeprazole 40 mg Inj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Untuk pasien IGD atau rawat inap dengan riwayat perdarahan saluran cerna atau stress ulcer berat pada kondisi kritis.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 ampul/hari, maks 3 hari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Omeprazole 20 mg Kap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a. Untuk terapi jangka pendek kasus tukak lambung, tukak duodenum, refluks esofagitis.</a:t>
                      </a:r>
                    </a:p>
                    <a:p>
                      <a:r>
                        <a:t>b. Diberikan 1 jam sebelum makan pagi.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 kapsul/bulan (maksimal 8 minggu)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Metoklopramid Inj /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Untuk mual dan muntah berat pasca operasi, kemoterapi, atau gastroparesis diabetikum akut.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Injeksi: 3 ampul/hari, maks 3 hari</a:t>
                      </a:r>
                    </a:p>
                    <a:p>
                      <a:r>
                        <a:t>Oral: 30 tab/bulan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Novorapid Flexpen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Untuk diabetes melitus yang tidak terkendali dengan obat oral, hiperglikemia rawat inap, atau krisis hiperglikemia.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Sesuai kebutuhan regulasi glukosa darah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Glikuidon 30 mg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Untuk pasien DM tipe 2 dengan gangguan fungsi ginjal derajat sedang hingga berat.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90 tablet/bulan (maks 120 mg/hari)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Amlodipin 10 mg Tab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Hipertensi esensial, monoterapi atau kombinasi. Dosis titrasi mulai dari 5 mg.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 tablet/bulan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SOAP PASIEN (MASALAH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926080"/>
                <a:gridCol w="2834640"/>
              </a:tblGrid>
              <a:tr h="2423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 (Subjective)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 (Objective)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 (Assessment)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 (Plan &amp; Rekomendasi)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24231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Pasien memiliki riwayat DM tipe 2 rutin berobat. Mengeluhkan lemas, nafsu makan berkurang pasca muntah, namun sudah bisa makan makanan lunak.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GDS Awal: 310 mg/dL</a:t>
                      </a:r>
                    </a:p>
                    <a:p>
                      <a:r>
                        <a:t>• GDS H1: 208 mg/dL</a:t>
                      </a:r>
                    </a:p>
                    <a:p>
                      <a:r>
                        <a:t>• GDP H2: 235 mg/dL</a:t>
                      </a:r>
                    </a:p>
                    <a:p>
                      <a:r>
                        <a:t>• GDP H3: 236 mg/dL</a:t>
                      </a:r>
                    </a:p>
                    <a:p>
                      <a:r>
                        <a:t>• GDP H4: 298 mg/dL</a:t>
                      </a:r>
                    </a:p>
                    <a:p/>
                    <a:p>
                      <a:r>
                        <a:t>Terapi berjalan:</a:t>
                      </a:r>
                    </a:p>
                    <a:p>
                      <a:r>
                        <a:t>Novorapid SC titrasi:</a:t>
                      </a:r>
                    </a:p>
                    <a:p>
                      <a:r>
                        <a:t>3x8 UI -&gt; 3x10 UI -&gt; 3x12 UI (tanpa insulin basal).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Regimen insulin sub-optimal (PCNE C1.4). Novorapid (prandial) hanya bekerja 3-5 jam. Ketiadaan insulin basal memicu hiperglikemia puasa malam-pagi (GDP 298 mg/dL).</a:t>
                      </a:r>
                    </a:p>
                    <a:p>
                      <a:r>
                        <a:t>2. Gagal mencapai target PERKENI 2021 (140-180 mg/dL).</a:t>
                      </a:r>
                    </a:p>
                    <a:p>
                      <a:r>
                        <a:t>3. Titrasi bolus ke 36 UI/hari meningkatkan risiko hipoglikemia siang/sore.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Rekomendasikan regimen Basal-Bolus sesuai PERKENI 2021 Hal. 100:</a:t>
                      </a:r>
                    </a:p>
                    <a:p>
                      <a:r>
                        <a:t>- Tambahkan Insulin Glargine 8-10 Unit SC malam jam 22.00.</a:t>
                      </a:r>
                    </a:p>
                    <a:p>
                      <a:r>
                        <a:t>- Turunkan Novorapid ke 3x4-6 UI ac.</a:t>
                      </a:r>
                    </a:p>
                    <a:p>
                      <a:r>
                        <a:t>2. Monitoring GDP (target &lt;140) dan GDS (&lt;180 mg/dL).</a:t>
                      </a:r>
                    </a:p>
                    <a:p>
                      <a:r>
                        <a:t>3. Waspadai tanda hipoglikemia (&lt;70 mg/dL).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SOAP PASIEN (MASALAH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926080"/>
                <a:gridCol w="2834640"/>
              </a:tblGrid>
              <a:tr h="2423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 (Subjective)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 (Objective)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 (Assessment)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 (Plan &amp; Rekomendasi)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24231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Pasien menyatakan muntah sudah berhenti sejak H2 ranap. Mual berangsur hilang. Saat pulang (18/10) pasien menyatakan TAK (Tidak Ada Keluhan) dan minta pulang.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Ureum: 57 mg/dL</a:t>
                      </a:r>
                    </a:p>
                    <a:p>
                      <a:r>
                        <a:t>• Kreatinin: 1,80 mg/dL</a:t>
                      </a:r>
                    </a:p>
                    <a:p>
                      <a:r>
                        <a:t>• CrCl: 30,69 mL/mnt (G3b)</a:t>
                      </a:r>
                    </a:p>
                    <a:p>
                      <a:r>
                        <a:t>• Terapi Ranap:</a:t>
                      </a:r>
                    </a:p>
                    <a:p>
                      <a:r>
                        <a:t>Metoklopramid IV 3x10 mg + Domperidone tab 2x10 mg</a:t>
                      </a:r>
                    </a:p>
                    <a:p>
                      <a:r>
                        <a:t>• Resep Pulang:</a:t>
                      </a:r>
                    </a:p>
                    <a:p>
                      <a:r>
                        <a:t>Gavistal (Metoklopramid) 3x10 mg + Domperidone 2x10 mg.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Dosis berlebih metoklopramid pada gangguan ginjal (PCNE C3.1). CrCl 30,69 mL/mnt butuh reduksi dosis 50% (FDA/Lexicomp).</a:t>
                      </a:r>
                    </a:p>
                    <a:p>
                      <a:r>
                        <a:t>2. Duplikasi fatal antagonis dopamin D2 (Gavistal + Domperidone) meningkatkan risiko aritmia pemanjangan QT dan Tardive Dyskinesia pada lansia.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Batalkan Gavistal dan Domperidone pada resep pulang karena keluhan muntah/mual sudah sembuh total (TAK).</a:t>
                      </a:r>
                    </a:p>
                    <a:p>
                      <a:r>
                        <a:t>2. Edukasi keluarga untuk tidak memberikan obat antimuntah ganda.</a:t>
                      </a:r>
                    </a:p>
                    <a:p>
                      <a:r>
                        <a:t>3. Monitoring tanda gejala ekstrapiramidal dan fungsi ginjal.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ANALISIS KASUS: SOAP PASIEN (MASALAH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926080"/>
                <a:gridCol w="2834640"/>
              </a:tblGrid>
              <a:tr h="2423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 (Subjective)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 (Objective)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 (Assessment)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 (Plan &amp; Rekomendasi)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24231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Pasien mengeluhkan batuk berdahak putih sejak masuk RS hingga H3 ranap. Pasien memiliki riwayat hipertensi rutin minum Amlodipin 10 mg dan Clopidogrel 75 mg.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TD saat pulang (18/10): 144/81 mmHg (Pagi) / 122/82 mmHg.</a:t>
                      </a:r>
                    </a:p>
                    <a:p>
                      <a:r>
                        <a:t>• Diagnosis Sekunder: ISPA dan Riw. Hipertensi.</a:t>
                      </a:r>
                    </a:p>
                    <a:p>
                      <a:r>
                        <a:t>• Resep Pulang: Amlodipin dan Clopidogrel TIDAK DITULIS (Omission).</a:t>
                      </a:r>
                    </a:p>
                    <a:p>
                      <a:r>
                        <a:t>• Tidak ada terapi mukolitik selama ranap.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Indikasi kronis belum diterapi saat pulang (PCNE C1.1). TD 144/81 mmHg membuktikan hipertensi pasien kambuh setelah normovolemia. Menghentikan Amlodipin &amp; Clopidogrel meningkatkan risiko stroke/MACE.</a:t>
                      </a:r>
                    </a:p>
                    <a:p>
                      <a:r>
                        <a:t>2. Indikasi batuk ISPA belum diterapi mukolitik (PCNE C1.1).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Rekonsiliasi pemulangan: Mulai kembali Amlodipin 1x5-10 mg PO pagi (Target TD &lt;130/80 PERHI 2021) dan Clopidogrel 1x75 mg PO pagi.</a:t>
                      </a:r>
                    </a:p>
                    <a:p>
                      <a:r>
                        <a:t>2. Berikan mukolitik N-Asetilsistein 3x200 mg atau Ambroxol 3x30 mg jika batuk masih berdahak.</a:t>
                      </a:r>
                    </a:p>
                    <a:p>
                      <a:r>
                        <a:t>3. Monitoring tekanan darah harian.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REKONSILIASI OBAT PULANG (DISCHARGE RECONCILIATION)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200400"/>
                <a:gridCol w="3474720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Kategori Terapi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Resep Pulang Aktual Dokter (IRJ-87885)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Rekomendasi Rekonsiliasi Apoteker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Dasar Pertimbangan Klinis Guideline</a:t>
                      </a:r>
                    </a:p>
                  </a:txBody>
                  <a:tcPr anchor="ctr">
                    <a:solidFill>
                      <a:srgbClr val="FEF08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Antiemetik &amp; Prokinetik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Gavistal 10 mg tab 3x1</a:t>
                      </a:r>
                    </a:p>
                    <a:p>
                      <a:r>
                        <a:t>• Domperidone 10 mg tab 2x1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BATALKAN KEDUANYA (STOP)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Gavistal = Metoklopramid. Duplikasi fatal antagonis D2, risiko pemanjangan QT &amp; EPS. Mual/muntah sudah sembuh (TAK).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Pelindung Lambung (GI)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Antasida Sirup 3x1 C ac</a:t>
                      </a:r>
                    </a:p>
                    <a:p>
                      <a:r>
                        <a:t>• Omeprazole 20 mg kap 2x1</a:t>
                      </a:r>
                    </a:p>
                    <a:p>
                      <a:r>
                        <a:t>• Rebamipide 100 mg tab 3x1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Cukup berikan:</a:t>
                      </a:r>
                    </a:p>
                    <a:p>
                      <a:r>
                        <a:t>Omeprazole 1 x 20 mg kap pagi (1 jam ac) selama 5-7 hari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Polifarmasi berlebih dihentikan. Cukup 1 macam PPI dosis tunggal untuk proteksi sisa mukosa lambung.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Antidiabetes (DM)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Glikuidon 30 mg tab 1x1 ac</a:t>
                      </a:r>
                    </a:p>
                    <a:p>
                      <a:r>
                        <a:t>• Novorapid Flexpen 3x12 UI ac (Jarum hanya 1 pcs)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• Glikuidon 30 mg 1-2x/hari ac</a:t>
                      </a:r>
                    </a:p>
                    <a:p>
                      <a:r>
                        <a:t>• Evaluasi: Ganti Novorapid masif dengan Glargine 8-10 UI malam jika butuh insulin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Mencegah hipoglikemia berat akibat kombinasi sulfonilurea + insulin bolus masif 36 UI/hari di rumah.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Antihipertensi (HT)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TIDAK DIRESEPKAN (OMISSION)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Mulai Kembali:</a:t>
                      </a:r>
                    </a:p>
                    <a:p>
                      <a:r>
                        <a:t>Amlodipin 1 x 5–10 mg tab pagi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TD pulang 144/81 mmHg. Wajib dilanjutkan untuk mencapai target TD &lt;130/80 mmHg (PERHI 2021).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Antiplatelet Kardiovaskular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TIDAK DIRESEPKAN (OMISSION)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Mulai Kembali:</a:t>
                      </a:r>
                    </a:p>
                    <a:p>
                      <a:r>
                        <a:t>Clopidogrel 1 x 75 mg tab pagi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Prevensi sekunder kardio/serebrovaskular. Tidak ada tanda perdarahan aktif (Hb stabil).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39200"/>
                </a:solidFill>
                <a:latin typeface="Arial Black"/>
              </a:defRPr>
            </a:pPr>
            <a:r>
              <a:t>UAD</a:t>
            </a:r>
            <a:r>
              <a:rPr sz="950" b="1">
                <a:solidFill>
                  <a:srgbClr val="0B3B70"/>
                </a:solidFill>
                <a:latin typeface="Arial"/>
              </a:rPr>
              <a:t>  Universitas
        Ahmad Dahlan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CATATAN PERKEMBANGAN PASIEN TERINTEGRASI (CPPT)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0362895" cy="41148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INOVATIF,  PROFESIONAL,  DEDIKATIF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6446520"/>
            <a:ext cx="1828800" cy="411480"/>
          </a:xfrm>
          <a:prstGeom prst="rect">
            <a:avLst/>
          </a:prstGeom>
          <a:solidFill>
            <a:srgbClr val="F39200"/>
          </a:solidFill>
          <a:ln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uad.ac.id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3B70"/>
                </a:solidFill>
                <a:latin typeface="Segoe UI"/>
              </a:defRPr>
            </a:pPr>
            <a:r>
              <a:t>DOKUMENTASI CPPT FARMASI KLINIS (BANGSAL MERAK RSPAU DR. S. HARDJOLUKITO):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Tanggal / Jam: 18-10-2026 / 10.00 WIB (Apoteker Bangsal Merak):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S (Subjective):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Pasien menyatakan muntah nihil, mual sudah hilang, pusing tidak ada, sudah dapat makan dan minum dengan baik, merasa segar dan meminta izin pulang (TAK).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O (Objective):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KU sedang, Kesadaran CM. TD: 122/82 mmHg, Nadi: 88 x/m, Suhu: 36,0°C, RR: 20 x/m, SpO2: 99%. GDP 18/10: 298 mg/dL. CrCl: 30,69 mL/mnt. Resep pulang No. IRJ-261018-87885.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A (Assessment):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Duplikasi terapi antiemetik/prokinetik pulang: Gavistal (Metoklopramid) 3x10 mg + Domperidone 2x10 mg berisiko fatal perpanjangan QTc dan EPS pada lansia dengan penurunan fungsi ginjal.</a:t>
            </a:r>
            <a:br/>
            <a:r>
              <a:t>2. Omission obat kronis: Amlodipin 10 mg dan Clopidogrel 75 mg tidak diresepkan kembali.</a:t>
            </a:r>
            <a:br/>
            <a:r>
              <a:t>3. Risiko hipoglikemia berat akibat kombinasi Glikuidon 30 mg + Novorapid 3x12 UI di rumah tanpa edukasi dan jarum memadai.</a:t>
            </a:r>
            <a:br/>
            <a:r>
              <a:t>4. Polifarmasi saluran cerna berlebih (5 macam obat lambung untuk kasus akut yang sudah sembuh).</a:t>
            </a:r>
          </a:p>
          <a:p>
            <a:pPr>
              <a:defRPr sz="1200" b="1">
                <a:solidFill>
                  <a:srgbClr val="0B3B70"/>
                </a:solidFill>
                <a:latin typeface="Segoe UI"/>
              </a:defRPr>
            </a:pPr>
            <a:r>
              <a:t>P (Planning &amp; Rekomendasi):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1. Konfirmasi dokter DPJP untuk membatalkan Gavistal dan Domperidone serta menyederhanakan PPI cukup Omeprazole 1x20 mg pagi.</a:t>
            </a:r>
            <a:br/>
            <a:r>
              <a:t>2. Mulai kembali Amlodipin 5-10 mg pagi dan Clopidogrel 75 mg pagi.</a:t>
            </a:r>
            <a:br/>
            <a:r>
              <a:t>3. Konseling KIE teknik penggunaan insulin pen, tanda hipoglikemia, diet 3J, dan jadwal kontrol lab 1 minggu.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70"/>
          </a:solidFill>
          <a:ln>
            <a:solidFill>
              <a:srgbClr val="0B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Program Studi Profesi Apoteker (PKPA)</a:t>
            </a:r>
            <a:br/>
            <a:r>
              <a:t>Fakultas Farmasi Universitas Ahmad Dahlan &amp; RSPAU dr. S. Hardjolukito</a:t>
            </a:r>
          </a:p>
          <a:p>
            <a:br/>
            <a:pPr algn="ctr">
              <a:defRPr sz="2400" b="1">
                <a:solidFill>
                  <a:srgbClr val="F39200"/>
                </a:solidFill>
                <a:latin typeface="Segoe UI"/>
              </a:defRPr>
            </a:pPr>
            <a:r>
              <a:t>#weareuad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